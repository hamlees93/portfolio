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 name="Shape 55"/>
        <p:cNvGrpSpPr/>
        <p:nvPr/>
      </p:nvGrpSpPr>
      <p:grpSpPr>
        <a:xfrm>
          <a:off x="0" y="0"/>
          <a:ext cx="0" cy="0"/>
          <a:chOff x="0" y="0"/>
          <a:chExt cx="0" cy="0"/>
        </a:xfrm>
      </p:grpSpPr>
      <p:sp>
        <p:nvSpPr>
          <p:cNvPr id="56" name="Google Shape;56;g415ac8470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15ac8470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GHALIP’S SLIDE</a:t>
            </a:r>
            <a:endParaRPr/>
          </a:p>
          <a:p>
            <a:pPr indent="0" lvl="0" marL="0" rtl="0" algn="l">
              <a:spcBef>
                <a:spcPts val="0"/>
              </a:spcBef>
              <a:spcAft>
                <a:spcPts val="0"/>
              </a:spcAft>
              <a:buNone/>
            </a:pPr>
            <a:r>
              <a:rPr lang="en"/>
              <a:t>Decided to create an educational game, with a little bit of fun added to it. Its based around naming capital cities around the world, hence the educational part, but with incredible graphics like this login screen, its also quite entertaining. We’ve also added features that allow the users to save their score, and compare it to others on a leaderboard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415ac8470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415ac8470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 through features of app</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8" name="Shape 68"/>
        <p:cNvGrpSpPr/>
        <p:nvPr/>
      </p:nvGrpSpPr>
      <p:grpSpPr>
        <a:xfrm>
          <a:off x="0" y="0"/>
          <a:ext cx="0" cy="0"/>
          <a:chOff x="0" y="0"/>
          <a:chExt cx="0" cy="0"/>
        </a:xfrm>
      </p:grpSpPr>
      <p:sp>
        <p:nvSpPr>
          <p:cNvPr id="69" name="Google Shape;69;g415ac8470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415ac8470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696969"/>
            </a:gs>
            <a:gs pos="100000">
              <a:srgbClr val="1D1D1D"/>
            </a:gs>
          </a:gsLst>
          <a:lin ang="5400012" scaled="0"/>
        </a:gradFill>
      </p:bgPr>
    </p:bg>
    <p:spTree>
      <p:nvGrpSpPr>
        <p:cNvPr id="53" name="Shape 53"/>
        <p:cNvGrpSpPr/>
        <p:nvPr/>
      </p:nvGrpSpPr>
      <p:grpSpPr>
        <a:xfrm>
          <a:off x="0" y="0"/>
          <a:ext cx="0" cy="0"/>
          <a:chOff x="0" y="0"/>
          <a:chExt cx="0" cy="0"/>
        </a:xfrm>
      </p:grpSpPr>
      <p:sp>
        <p:nvSpPr>
          <p:cNvPr id="54" name="Google Shape;54;p13"/>
          <p:cNvSpPr txBox="1"/>
          <p:nvPr/>
        </p:nvSpPr>
        <p:spPr>
          <a:xfrm>
            <a:off x="2024402" y="1700851"/>
            <a:ext cx="5095200" cy="17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solidFill>
                  <a:srgbClr val="00FFFF"/>
                </a:solidFill>
              </a:rPr>
              <a:t>Portfolio</a:t>
            </a:r>
            <a:endParaRPr sz="7200">
              <a:solidFill>
                <a:srgbClr val="00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2000"/>
                                        <p:tgtEl>
                                          <p:spTgt spid="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696969"/>
            </a:gs>
            <a:gs pos="100000">
              <a:srgbClr val="1D1D1D"/>
            </a:gs>
          </a:gsLst>
          <a:lin ang="5400012" scaled="0"/>
        </a:gradFill>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0" y="114375"/>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00FFFF"/>
                </a:solidFill>
              </a:rPr>
              <a:t>Design Process</a:t>
            </a:r>
            <a:endParaRPr sz="3600">
              <a:solidFill>
                <a:srgbClr val="00FFFF"/>
              </a:solidFill>
            </a:endParaRPr>
          </a:p>
        </p:txBody>
      </p:sp>
      <p:sp>
        <p:nvSpPr>
          <p:cNvPr id="60" name="Google Shape;60;p14"/>
          <p:cNvSpPr txBox="1"/>
          <p:nvPr>
            <p:ph idx="1" type="body"/>
          </p:nvPr>
        </p:nvSpPr>
        <p:spPr>
          <a:xfrm>
            <a:off x="1281450" y="1004700"/>
            <a:ext cx="6581100" cy="40725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0"/>
              </a:spcAft>
              <a:buClr>
                <a:srgbClr val="FFFFFF"/>
              </a:buClr>
              <a:buSzPts val="3600"/>
              <a:buChar char="●"/>
            </a:pPr>
            <a:r>
              <a:rPr lang="en" sz="3600">
                <a:solidFill>
                  <a:srgbClr val="FFFFFF"/>
                </a:solidFill>
              </a:rPr>
              <a:t>Changed over time...twice</a:t>
            </a:r>
            <a:endParaRPr sz="3600">
              <a:solidFill>
                <a:srgbClr val="FFFFFF"/>
              </a:solidFill>
            </a:endParaRPr>
          </a:p>
          <a:p>
            <a:pPr indent="-457200" lvl="0" marL="457200" rtl="0" algn="l">
              <a:spcBef>
                <a:spcPts val="0"/>
              </a:spcBef>
              <a:spcAft>
                <a:spcPts val="0"/>
              </a:spcAft>
              <a:buClr>
                <a:srgbClr val="FFFFFF"/>
              </a:buClr>
              <a:buSzPts val="3600"/>
              <a:buChar char="●"/>
            </a:pPr>
            <a:r>
              <a:rPr lang="en" sz="3600">
                <a:solidFill>
                  <a:srgbClr val="FFFFFF"/>
                </a:solidFill>
              </a:rPr>
              <a:t>Originally bright blue, with bright shapes</a:t>
            </a:r>
            <a:endParaRPr sz="3600">
              <a:solidFill>
                <a:srgbClr val="FFFFFF"/>
              </a:solidFill>
            </a:endParaRPr>
          </a:p>
          <a:p>
            <a:pPr indent="-457200" lvl="0" marL="457200" rtl="0" algn="l">
              <a:spcBef>
                <a:spcPts val="0"/>
              </a:spcBef>
              <a:spcAft>
                <a:spcPts val="0"/>
              </a:spcAft>
              <a:buClr>
                <a:srgbClr val="FFFFFF"/>
              </a:buClr>
              <a:buSzPts val="3600"/>
              <a:buChar char="●"/>
            </a:pPr>
            <a:r>
              <a:rPr lang="en" sz="3600">
                <a:solidFill>
                  <a:srgbClr val="FFFFFF"/>
                </a:solidFill>
              </a:rPr>
              <a:t>Then tried clean look</a:t>
            </a:r>
            <a:endParaRPr sz="3600">
              <a:solidFill>
                <a:srgbClr val="FFFFFF"/>
              </a:solidFill>
            </a:endParaRPr>
          </a:p>
          <a:p>
            <a:pPr indent="-457200" lvl="0" marL="457200" rtl="0" algn="l">
              <a:spcBef>
                <a:spcPts val="0"/>
              </a:spcBef>
              <a:spcAft>
                <a:spcPts val="0"/>
              </a:spcAft>
              <a:buClr>
                <a:srgbClr val="FFFFFF"/>
              </a:buClr>
              <a:buSzPts val="3600"/>
              <a:buChar char="●"/>
            </a:pPr>
            <a:r>
              <a:rPr lang="en" sz="3600">
                <a:solidFill>
                  <a:srgbClr val="FFFFFF"/>
                </a:solidFill>
              </a:rPr>
              <a:t>...Then back to shapes</a:t>
            </a:r>
            <a:endParaRPr sz="3600">
              <a:solidFill>
                <a:srgbClr val="FFFFFF"/>
              </a:solidFill>
            </a:endParaRPr>
          </a:p>
        </p:txBody>
      </p:sp>
      <p:sp>
        <p:nvSpPr>
          <p:cNvPr id="61" name="Google Shape;61;p14"/>
          <p:cNvSpPr txBox="1"/>
          <p:nvPr/>
        </p:nvSpPr>
        <p:spPr>
          <a:xfrm>
            <a:off x="3738725" y="1935725"/>
            <a:ext cx="6371400" cy="7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696969"/>
            </a:gs>
            <a:gs pos="100000">
              <a:srgbClr val="1D1D1D"/>
            </a:gs>
          </a:gsLst>
          <a:lin ang="5400012" scaled="0"/>
        </a:gra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1049550" y="348675"/>
            <a:ext cx="7044900" cy="108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rgbClr val="00FFFF"/>
                </a:solidFill>
              </a:rPr>
              <a:t>Build Process</a:t>
            </a:r>
            <a:endParaRPr sz="4000">
              <a:solidFill>
                <a:srgbClr val="00FFFF"/>
              </a:solidFill>
            </a:endParaRPr>
          </a:p>
          <a:p>
            <a:pPr indent="0" lvl="0" marL="0" rtl="0" algn="ctr">
              <a:spcBef>
                <a:spcPts val="0"/>
              </a:spcBef>
              <a:spcAft>
                <a:spcPts val="0"/>
              </a:spcAft>
              <a:buNone/>
            </a:pPr>
            <a:r>
              <a:t/>
            </a:r>
            <a:endParaRPr sz="4000">
              <a:solidFill>
                <a:srgbClr val="00FFFF"/>
              </a:solidFill>
            </a:endParaRPr>
          </a:p>
        </p:txBody>
      </p:sp>
      <p:sp>
        <p:nvSpPr>
          <p:cNvPr id="67" name="Google Shape;67;p15"/>
          <p:cNvSpPr txBox="1"/>
          <p:nvPr>
            <p:ph idx="1" type="body"/>
          </p:nvPr>
        </p:nvSpPr>
        <p:spPr>
          <a:xfrm>
            <a:off x="1281450" y="1004700"/>
            <a:ext cx="6581100" cy="40725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0"/>
              </a:spcAft>
              <a:buClr>
                <a:srgbClr val="FFFFFF"/>
              </a:buClr>
              <a:buSzPts val="3600"/>
              <a:buChar char="●"/>
            </a:pPr>
            <a:r>
              <a:rPr lang="en" sz="3600">
                <a:solidFill>
                  <a:srgbClr val="FFFFFF"/>
                </a:solidFill>
              </a:rPr>
              <a:t>Challenges - the shapes, arrows and text</a:t>
            </a:r>
            <a:endParaRPr sz="3600">
              <a:solidFill>
                <a:srgbClr val="FFFFFF"/>
              </a:solidFill>
            </a:endParaRPr>
          </a:p>
          <a:p>
            <a:pPr indent="-457200" lvl="0" marL="457200" rtl="0" algn="l">
              <a:spcBef>
                <a:spcPts val="0"/>
              </a:spcBef>
              <a:spcAft>
                <a:spcPts val="0"/>
              </a:spcAft>
              <a:buClr>
                <a:srgbClr val="FFFFFF"/>
              </a:buClr>
              <a:buSzPts val="3600"/>
              <a:buChar char="●"/>
            </a:pPr>
            <a:r>
              <a:rPr lang="en" sz="3600">
                <a:solidFill>
                  <a:srgbClr val="FFFFFF"/>
                </a:solidFill>
              </a:rPr>
              <a:t>Ethical - Making it accessible</a:t>
            </a:r>
            <a:endParaRPr sz="3600">
              <a:solidFill>
                <a:srgbClr val="FFFFFF"/>
              </a:solidFill>
            </a:endParaRPr>
          </a:p>
          <a:p>
            <a:pPr indent="-457200" lvl="0" marL="457200" rtl="0" algn="l">
              <a:spcBef>
                <a:spcPts val="0"/>
              </a:spcBef>
              <a:spcAft>
                <a:spcPts val="0"/>
              </a:spcAft>
              <a:buClr>
                <a:srgbClr val="FFFFFF"/>
              </a:buClr>
              <a:buSzPts val="3600"/>
              <a:buChar char="●"/>
            </a:pPr>
            <a:r>
              <a:rPr lang="en" sz="3600">
                <a:solidFill>
                  <a:srgbClr val="FFFFFF"/>
                </a:solidFill>
              </a:rPr>
              <a:t>Favourite part - The carousel</a:t>
            </a:r>
            <a:endParaRPr sz="36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696969"/>
            </a:gs>
            <a:gs pos="100000">
              <a:srgbClr val="1D1D1D"/>
            </a:gs>
          </a:gsLst>
          <a:lin ang="5400012" scaled="0"/>
        </a:grad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2047500" y="979175"/>
            <a:ext cx="5049000" cy="264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rgbClr val="00FFFF"/>
                </a:solidFill>
              </a:rPr>
              <a:t>Thank you!</a:t>
            </a:r>
            <a:endParaRPr sz="4000">
              <a:solidFill>
                <a:srgbClr val="00FFFF"/>
              </a:solidFill>
            </a:endParaRPr>
          </a:p>
          <a:p>
            <a:pPr indent="0" lvl="0" marL="0" rtl="0" algn="ctr">
              <a:spcBef>
                <a:spcPts val="0"/>
              </a:spcBef>
              <a:spcAft>
                <a:spcPts val="0"/>
              </a:spcAft>
              <a:buNone/>
            </a:pPr>
            <a:r>
              <a:t/>
            </a:r>
            <a:endParaRPr sz="4000">
              <a:solidFill>
                <a:srgbClr val="00FFFF"/>
              </a:solidFill>
            </a:endParaRPr>
          </a:p>
          <a:p>
            <a:pPr indent="0" lvl="0" marL="0" rtl="0" algn="ctr">
              <a:spcBef>
                <a:spcPts val="0"/>
              </a:spcBef>
              <a:spcAft>
                <a:spcPts val="0"/>
              </a:spcAft>
              <a:buNone/>
            </a:pPr>
            <a:r>
              <a:rPr lang="en" sz="4000">
                <a:solidFill>
                  <a:srgbClr val="00FFFF"/>
                </a:solidFill>
              </a:rPr>
              <a:t>Any Questions..</a:t>
            </a:r>
            <a:endParaRPr sz="4000">
              <a:solidFill>
                <a:srgbClr val="00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